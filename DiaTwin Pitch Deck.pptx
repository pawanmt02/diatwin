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/>
      <p:bold r:id="rId14"/>
    </p:embeddedFont>
    <p:embeddedFont>
      <p:font typeface="Space Mono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4915644"/>
            <a:ext cx="7620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7921" y="1904107"/>
            <a:ext cx="353615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EA5E9"/>
                </a:solidFill>
                <a:latin typeface="Space Mono"/>
              </a:rP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1994" y="2332732"/>
            <a:ext cx="4088010" cy="921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59"/>
              </a:lnSpc>
            </a:pPr>
            <a:r>
              <a:rPr sz="6600" b="1" i="0" u="none">
                <a:solidFill>
                  <a:srgbClr val="F8FAFC"/>
                </a:solidFill>
                <a:latin typeface="Inter"/>
              </a:rPr>
              <a:t>DiaTwin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559522"/>
            <a:ext cx="952500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94A3B8"/>
                </a:solidFill>
                <a:latin typeface="Inter"/>
              </a:rPr>
              <a:t>A Multimodal Metabolic Digital Twin for Forecasting Glycemic Trajectories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846933"/>
            <a:ext cx="4572000" cy="2857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846933"/>
            <a:ext cx="4572000" cy="2857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762000"/>
            <a:ext cx="10001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Mono"/>
              </a:rPr>
              <a:t>THE INDIAN T2D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114425"/>
            <a:ext cx="11049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Reactive monitoring fails patients.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89808"/>
            <a:ext cx="5715000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0F172A"/>
                </a:solidFill>
                <a:latin typeface="Space Mono"/>
              </a:rPr>
              <a:t>101M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361408"/>
            <a:ext cx="5715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Inter"/>
              </a:rPr>
              <a:t>Diagnosed T2D cases in India.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90033"/>
            <a:ext cx="3905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High-carbohydrate dietary staples trigger extreme postprandial excursions. Current tools only report the past.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05600" y="3469034"/>
            <a:ext cx="4572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62000"/>
            <a:ext cx="4724400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05600" y="1638448"/>
            <a:ext cx="4438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Mono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1990873"/>
            <a:ext cx="466058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Inter"/>
              </a:rPr>
              <a:t>Continuous </a:t>
            </a:r>
            <a:r>
              <a:t>
</a:t>
            </a:r>
            <a:r>
              <a:rPr sz="4200" b="1" i="0" u="none">
                <a:solidFill>
                  <a:srgbClr val="0F172A"/>
                </a:solidFill>
                <a:latin typeface="Inter"/>
              </a:rPr>
              <a:t> In-Silico Replica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3802409"/>
            <a:ext cx="542925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Anticipates critical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4350990"/>
            <a:ext cx="542925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Models complex glycemic trajectories.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4899570"/>
            <a:ext cx="542925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Enables preemptive clinical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2599283"/>
            <a:ext cx="4762500" cy="327660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599283"/>
            <a:ext cx="4762500" cy="3276600"/>
          </a:xfrm>
          <a:prstGeom prst="roundRect">
            <a:avLst>
              <a:gd name="adj" fmla="val 4651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43000" y="2599283"/>
            <a:ext cx="47625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86500" y="2599283"/>
            <a:ext cx="47625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961233"/>
            <a:ext cx="2857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2961233"/>
            <a:ext cx="333375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613820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994820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5375820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4613820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4994820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5375820"/>
            <a:ext cx="17145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47625" y="981967"/>
            <a:ext cx="12287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Space Mono"/>
              </a:rPr>
              <a:t>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47625" y="1334392"/>
            <a:ext cx="12287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Dual Data Stream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3570833"/>
            <a:ext cx="5450681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Static EHR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4047083"/>
            <a:ext cx="4248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Mono"/>
              </a:rPr>
              <a:t>SYNTHEA / MIMIC-IV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300" y="3570833"/>
            <a:ext cx="5450681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Dynamic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4047083"/>
            <a:ext cx="4248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Mono"/>
              </a:rPr>
              <a:t>WEARABLE SENSORS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3550" y="4580483"/>
            <a:ext cx="4905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Baseline metabolic phenotypes.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3550" y="4961483"/>
            <a:ext cx="4905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Laboratory biomarker profiles.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3550" y="5342483"/>
            <a:ext cx="4905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Active pharmacological regimens.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7050" y="4580483"/>
            <a:ext cx="4905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Continuous interstitial glucose.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7050" y="4961483"/>
            <a:ext cx="4905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Autonomic stress biomarkers.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7050" y="5342483"/>
            <a:ext cx="4905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Physical exertion intensity.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60750" y="4266158"/>
            <a:ext cx="762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69100" y="4266158"/>
            <a:ext cx="762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06500" y="336902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4851" y="336902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23201" y="336902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675507"/>
            <a:ext cx="10001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Mono"/>
              </a:rPr>
              <a:t>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27932"/>
            <a:ext cx="11049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Algorithmic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3625" y="3369022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350" y="4359622"/>
            <a:ext cx="2400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Data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856" y="4702522"/>
            <a:ext cx="311143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Tabular and temporal normalization.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1976" y="3369022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964" y="4359622"/>
            <a:ext cx="218777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Contextual Gating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206" y="4702522"/>
            <a:ext cx="311143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Static features modulate dynamics.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0326" y="3369022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568" y="4359622"/>
            <a:ext cx="212526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Predictive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8556" y="4702522"/>
            <a:ext cx="311143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Multi-horizon trajectory forecast.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45915"/>
            <a:ext cx="9906000" cy="44690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2236440"/>
            <a:ext cx="9124950" cy="3687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762000"/>
            <a:ext cx="10001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Mono"/>
              </a:rPr>
              <a:t>TEMPORAL FUSION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114425"/>
            <a:ext cx="11049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120-Minute Predictive Horizon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3680370"/>
            <a:ext cx="4724400" cy="1343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24600" y="3680370"/>
            <a:ext cx="4724400" cy="1343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43000" y="3680370"/>
            <a:ext cx="38100" cy="13430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4600" y="3680370"/>
            <a:ext cx="38100" cy="1343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9640" y="1834455"/>
            <a:ext cx="651271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Space Mono"/>
              </a:rPr>
              <a:t>COUNTERFACTUAL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6822" y="2186880"/>
            <a:ext cx="6838354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The "What-If"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9640" y="2842170"/>
            <a:ext cx="65127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Test therapeutic interventions safely in-silico.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680370"/>
            <a:ext cx="575071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Nutritional Disturbance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4108995"/>
            <a:ext cx="4476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Mono"/>
              </a:rPr>
              <a:t>ACTION: 45G CARBOHYDRATE MEAL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" y="4489995"/>
            <a:ext cx="4476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Model projects severe postprandial spike crossing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3680370"/>
            <a:ext cx="55245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Activity 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4108995"/>
            <a:ext cx="4476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Space Mono"/>
              </a:rPr>
              <a:t>ACTION: 15-MINUTE MODERATE WALK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4489995"/>
            <a:ext cx="4476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Model projects immediate spike attenuation below hazard 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2745134"/>
            <a:ext cx="3098750" cy="2480071"/>
          </a:xfrm>
          <a:prstGeom prst="roundRect">
            <a:avLst>
              <a:gd name="adj" fmla="val 61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46550" y="2745134"/>
            <a:ext cx="3098750" cy="2480071"/>
          </a:xfrm>
          <a:prstGeom prst="roundRect">
            <a:avLst>
              <a:gd name="adj" fmla="val 61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0100" y="2745134"/>
            <a:ext cx="3098899" cy="2480071"/>
          </a:xfrm>
          <a:prstGeom prst="roundRect">
            <a:avLst>
              <a:gd name="adj" fmla="val 61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700" y="3202334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826" y="3202334"/>
            <a:ext cx="4000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525" y="3202334"/>
            <a:ext cx="4000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1632644"/>
            <a:ext cx="11049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Clinician Command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870" y="3888134"/>
            <a:ext cx="326700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Dynamic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656" y="4288184"/>
            <a:ext cx="311143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Real-time trajectories with predictive confidence cones.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420" y="3888134"/>
            <a:ext cx="326700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Phenotype Replica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0206" y="4288184"/>
            <a:ext cx="311143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Organ risk metrics computed from baseline clinical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5947" y="3888134"/>
            <a:ext cx="326720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Automated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3738" y="4288184"/>
            <a:ext cx="31116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Priority queue highlighting nocturnal hypoglycemia risks.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1953517"/>
            <a:ext cx="2190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Mono"/>
              </a:rPr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305942"/>
            <a:ext cx="8176021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Clinical Performance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70833"/>
            <a:ext cx="314325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400" b="1" i="0" u="none">
                <a:solidFill>
                  <a:srgbClr val="0F172A"/>
                </a:solidFill>
                <a:latin typeface="Space Mono"/>
              </a:rPr>
              <a:t>&lt;10%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409033"/>
            <a:ext cx="33004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Target MARD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713833"/>
            <a:ext cx="3143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Mean Absolute Relative Difference.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9225" y="3570833"/>
            <a:ext cx="2464593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400" b="1" i="0" u="none">
                <a:solidFill>
                  <a:srgbClr val="0F172A"/>
                </a:solidFill>
                <a:latin typeface="Space Mono"/>
              </a:rPr>
              <a:t>&gt;98%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9225" y="4409033"/>
            <a:ext cx="258782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Zones A+B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9225" y="4713833"/>
            <a:ext cx="2464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Clarke Error Grid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2525" y="3570833"/>
            <a:ext cx="2845593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400" b="1" i="0" u="none">
                <a:solidFill>
                  <a:srgbClr val="0F172A"/>
                </a:solidFill>
                <a:latin typeface="Space Mono"/>
              </a:rPr>
              <a:t>45</a:t>
            </a:r>
            <a:r>
              <a:rPr sz="3000" b="1" i="0" u="none">
                <a:solidFill>
                  <a:srgbClr val="0F172A"/>
                </a:solidFill>
                <a:latin typeface="Space Mono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2525" y="4409033"/>
            <a:ext cx="298787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2525" y="4713833"/>
            <a:ext cx="2845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Minimum warning before event.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685008"/>
            <a:ext cx="304800" cy="323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647033"/>
            <a:ext cx="2667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609058"/>
            <a:ext cx="26670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3500" y="1696342"/>
            <a:ext cx="108585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Sandbox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6900" y="2656433"/>
            <a:ext cx="677584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Zero Persistence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3008858"/>
            <a:ext cx="645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Wearable simulations run exclusively in volatile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18458"/>
            <a:ext cx="592574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Fully Synthetic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70883"/>
            <a:ext cx="5643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Strict alignment with DPDP and HIPAA guidelines.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580483"/>
            <a:ext cx="8076009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Deterministic Hashing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32908"/>
            <a:ext cx="7691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Patient identifiers completely replaced with pseudorandom hashes.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9250" y="3718470"/>
            <a:ext cx="8953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26828" y="2224980"/>
            <a:ext cx="6738342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16-Day Execution Sprint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3125" y="348987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19625" y="348987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96125" y="348987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72625" y="348987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0250" y="3489870"/>
            <a:ext cx="7620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pace Mono"/>
              </a:rP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6159" y="4194720"/>
            <a:ext cx="14501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Data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7812" y="4470945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Synthetic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6750" y="3489870"/>
            <a:ext cx="7620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pace Mono"/>
              </a:rPr>
              <a:t>D5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2658" y="4194720"/>
            <a:ext cx="147018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Model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5515" y="4470945"/>
            <a:ext cx="1464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Predictive training.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0" y="3489870"/>
            <a:ext cx="7620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pace Mono"/>
              </a:rPr>
              <a:t>D9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4170" y="4194720"/>
            <a:ext cx="12801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Sandbox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4470945"/>
            <a:ext cx="1352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Dashboard build.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0" y="3489870"/>
            <a:ext cx="7620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Space Mono"/>
              </a:rPr>
              <a:t>D14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0667" y="4194720"/>
            <a:ext cx="13201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8287" y="4470945"/>
            <a:ext cx="13049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Docs and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6710" y="2803177"/>
            <a:ext cx="8638579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Inter"/>
              </a:rPr>
              <a:t>Ready for the Summit.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5718" y="3778448"/>
            <a:ext cx="450056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EA5E9"/>
                </a:solidFill>
                <a:latin typeface="Space Mono"/>
              </a:rPr>
              <a:t>DIGITAL TWIN CHALLENGE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320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Inter</vt:lpstr>
      <vt:lpstr>Space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Pawan</dc:creator>
  <cp:keywords/>
  <dc:description>generated using python-pptx</dc:description>
  <cp:lastModifiedBy>manoharst406@outlook.com</cp:lastModifiedBy>
  <cp:revision>1</cp:revision>
  <dcterms:created xsi:type="dcterms:W3CDTF">2013-01-27T09:14:16Z</dcterms:created>
  <dcterms:modified xsi:type="dcterms:W3CDTF">2026-10-03T11:33:48Z</dcterms:modified>
  <cp:category/>
</cp:coreProperties>
</file>